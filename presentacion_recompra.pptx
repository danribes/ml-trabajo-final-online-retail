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147a6bd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147a6bd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147a6bd4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147a6bd4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147a6bd4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147a6bd4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147a6bd4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147a6bd4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147a6bd4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147a6bd4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994799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Predicción de recompra</a:t>
            </a:r>
            <a:endParaRPr/>
          </a:p>
          <a:p>
            <a:r>
              <a:t>Online Retail II – Máster 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Objetivos e hipótesis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2317350" y="1152475"/>
            <a:ext cx="6515100" cy="933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sz="1200"/>
              <a:t>• Predecir la probabilidad de que un cliente vuelva a comprar en los 6 meses</a:t>
            </a:r>
            <a:endParaRPr sz="1200"/>
          </a:p>
          <a:p>
            <a:r>
              <a:rPr sz="1200"/>
              <a:t>   posteriores a la fecha de corte (2011-06-09).</a:t>
            </a:r>
          </a:p>
          <a:p>
            <a:r>
              <a:rPr sz="1200"/>
              <a:t>• Segmentar a 4,914 clientes por score → acciones diferenciadas.</a:t>
            </a:r>
          </a:p>
          <a:p>
            <a:r>
              <a:rPr sz="1200"/>
              <a:t>• Fidelización para top decil; retención / win-back para bottom decil.</a:t>
            </a:r>
          </a:p>
        </p:txBody>
      </p:sp>
      <p:sp>
        <p:nvSpPr>
          <p:cNvPr id="61" name="Google Shape;61;p14"/>
          <p:cNvSpPr/>
          <p:nvPr/>
        </p:nvSpPr>
        <p:spPr>
          <a:xfrm>
            <a:off x="387850" y="1152500"/>
            <a:ext cx="1835100" cy="93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Objetivos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387850" y="2221250"/>
            <a:ext cx="1835100" cy="2347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</a:t>
            </a:r>
            <a:r>
              <a:rPr lang="en">
                <a:solidFill>
                  <a:schemeClr val="lt1"/>
                </a:solidFill>
              </a:rPr>
              <a:t>sunciones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2317350" y="2220225"/>
            <a:ext cx="6515100" cy="2347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sz="1200"/>
              <a:t>• Filas sin CustomerID descartadas (~23%) → no etiquetables.</a:t>
            </a:r>
            <a:endParaRPr sz="1200"/>
          </a:p>
          <a:p>
            <a:r>
              <a:rPr sz="1200"/>
              <a:t>• Cancelaciones (Invoice "C*") y devoluciones excluidas.</a:t>
            </a:r>
          </a:p>
          <a:p>
            <a:r>
              <a:rPr sz="1200"/>
              <a:t>• Códigos de servicio (POST, DOT, AMAZONFEE, …) excluidos.</a:t>
            </a:r>
          </a:p>
          <a:p>
            <a:r>
              <a:rPr sz="1200"/>
              <a:t>• Quantity ≤ 0 y Price ≤ 0 excluidos.</a:t>
            </a:r>
          </a:p>
          <a:p>
            <a:r>
              <a:rPr sz="1200"/>
              <a:t>• Top 0.5% revenue por línea capado para estabilidad.</a:t>
            </a:r>
          </a:p>
          <a:p>
            <a:r>
              <a:rPr sz="1200"/>
              <a:t>• Tasa de recompra observada: 51.6% (muestra balanceada).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Descriptivo</a:t>
            </a:r>
            <a:endParaRPr/>
          </a:p>
        </p:txBody>
      </p:sp>
      <p:pic>
        <p:nvPicPr>
          <p:cNvPr id="69" name="Picture 68" descr="eda_monthly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0"/>
            <a:ext cx="4297680" cy="1910080"/>
          </a:xfrm>
          <a:prstGeom prst="rect">
            <a:avLst/>
          </a:prstGeom>
        </p:spPr>
      </p:pic>
      <p:pic>
        <p:nvPicPr>
          <p:cNvPr id="70" name="Picture 69" descr="eda_top_countr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3108960"/>
            <a:ext cx="3931920" cy="1965960"/>
          </a:xfrm>
          <a:prstGeom prst="rect">
            <a:avLst/>
          </a:prstGeom>
        </p:spPr>
      </p:pic>
      <p:pic>
        <p:nvPicPr>
          <p:cNvPr id="71" name="Picture 70" descr="eda_target_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097280"/>
            <a:ext cx="4343400" cy="347472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663440" y="4617720"/>
            <a:ext cx="4343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/>
              <a:t>4,914 clientes etiquetados · tasa real 51.6%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El modelo</a:t>
            </a:r>
            <a:endParaRPr/>
          </a:p>
        </p:txBody>
      </p:sp>
      <p:pic>
        <p:nvPicPr>
          <p:cNvPr id="74" name="Picture 73" descr="model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0"/>
            <a:ext cx="2633472" cy="2194560"/>
          </a:xfrm>
          <a:prstGeom prst="rect">
            <a:avLst/>
          </a:prstGeom>
        </p:spPr>
      </p:pic>
      <p:pic>
        <p:nvPicPr>
          <p:cNvPr id="75" name="Picture 74" descr="model_deci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3474720"/>
            <a:ext cx="2800350" cy="1600200"/>
          </a:xfrm>
          <a:prstGeom prst="rect">
            <a:avLst/>
          </a:prstGeom>
        </p:spPr>
      </p:pic>
      <p:pic>
        <p:nvPicPr>
          <p:cNvPr id="76" name="Picture 75" descr="model_import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1097280"/>
            <a:ext cx="3413760" cy="219456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3017520" y="3474720"/>
            <a:ext cx="5989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/>
              <a:t>Modelo final: RandomForest</a:t>
            </a:r>
          </a:p>
          <a:p>
            <a:r>
              <a:rPr sz="1300"/>
              <a:t>AUC = 0.803   AP = 0.833</a:t>
            </a:r>
          </a:p>
          <a:p>
            <a:r>
              <a:rPr sz="1300"/>
              <a:t>Top features: Recency, BuysPerMonth, Monetary, AvgQty</a:t>
            </a:r>
          </a:p>
          <a:p>
            <a:r>
              <a:rPr sz="1300"/>
              <a:t>Top decil score → 97% recompran</a:t>
            </a:r>
          </a:p>
          <a:p>
            <a:r>
              <a:rPr sz="1300"/>
              <a:t>Bottom decil   → 12% recompran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Conclusiones y próximos pasos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2317350" y="1152475"/>
            <a:ext cx="6515100" cy="933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sz="1200"/>
              <a:t>• Modelo RandomForest con AUC test ≈ 0.80, AP ≈ 0.83.</a:t>
            </a:r>
            <a:endParaRPr sz="1200"/>
          </a:p>
          <a:p>
            <a:r>
              <a:rPr sz="1200"/>
              <a:t>• Buena calibración → score utilizable como probabilidad real.</a:t>
            </a:r>
          </a:p>
          <a:p>
            <a:r>
              <a:rPr sz="1200"/>
              <a:t>• Lift fuerte: top 10% del score recompra 97% vs. 12% en el último decil.</a:t>
            </a:r>
          </a:p>
          <a:p>
            <a:r>
              <a:rPr sz="1200"/>
              <a:t>• Variables RFM dominan; la dimensión territorial (IsUK) aporta poco.</a:t>
            </a:r>
          </a:p>
          <a:p>
            <a:r>
              <a:rPr sz="1200"/>
              <a:t>• Recomendación: usar score por decil para diseñar campañas.</a:t>
            </a:r>
          </a:p>
        </p:txBody>
      </p:sp>
      <p:sp>
        <p:nvSpPr>
          <p:cNvPr id="80" name="Google Shape;80;p17"/>
          <p:cNvSpPr/>
          <p:nvPr/>
        </p:nvSpPr>
        <p:spPr>
          <a:xfrm>
            <a:off x="387850" y="1152500"/>
            <a:ext cx="1835100" cy="93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Conclusiones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387850" y="2221250"/>
            <a:ext cx="1835100" cy="2347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Próximos pasos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2317350" y="2220225"/>
            <a:ext cx="6515100" cy="2347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• Validar sobre cutoffs rolling para robustez temporal.</a:t>
            </a:r>
            <a:endParaRPr sz="1200"/>
          </a:p>
          <a:p>
            <a:r>
              <a:rPr sz="1200"/>
              <a:t>• Añadir features de categoría de producto y estacionalidad Q4.</a:t>
            </a:r>
          </a:p>
          <a:p>
            <a:r>
              <a:rPr sz="1200"/>
              <a:t>• Calibrar threshold con curva coste / beneficio (campaña vs CLV recuperado).</a:t>
            </a:r>
          </a:p>
          <a:p>
            <a:r>
              <a:rPr sz="1200"/>
              <a:t>• Probar Gradient Boosting con monotonic constraints en Recency/Frequency.</a:t>
            </a:r>
          </a:p>
          <a:p>
            <a:r>
              <a:rPr sz="1200"/>
              <a:t>• Calibrar el output (Platt / isotonic) si se usa segmentación binaria.</a:t>
            </a:r>
          </a:p>
          <a:p>
            <a:r>
              <a:rPr sz="1200"/>
              <a:t>• Re-entrenamiento trimestral + monitorización de drift de RFM.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(instrucciones)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Esto es un propuesta de plantilla para facilitar hacer un powerpoint a aquellos menos habituados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El utilizar esta plantilla es opcional, el que se sienta más cómo con otra la puede utilizar sin problema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 las gráficas podéis pegar directamente las que os salen de python,pero que quede bonito.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