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d147a6bd4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d147a6bd4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d147a6bd48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d147a6bd48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d147a6bd48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d147a6bd48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d147a6bd48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d147a6bd48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d147a6bd48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3d147a6bd48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994799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>Predicción de recompra</a:t>
            </a:r>
            <a:endParaRPr/>
          </a:p>
          <a:p>
            <a:r>
              <a:t>Online Retail II – Máster ML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>Objetivos e hipótesis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2317350" y="1152475"/>
            <a:ext cx="6515100" cy="9330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sz="1200"/>
              <a:t>• Predecir la probabilidad de que un cliente vuelva a comprar en los 6 meses</a:t>
            </a:r>
            <a:endParaRPr sz="1200"/>
          </a:p>
          <a:p>
            <a:r>
              <a:rPr sz="1200"/>
              <a:t>   posteriores a la fecha de corte (2011-06-09).</a:t>
            </a:r>
          </a:p>
          <a:p>
            <a:r>
              <a:rPr sz="1200"/>
              <a:t>• Segmentar a 4,914 clientes por score → acciones diferenciadas.</a:t>
            </a:r>
          </a:p>
          <a:p>
            <a:r>
              <a:rPr sz="1200"/>
              <a:t>• Fidelización para top decil; retención / win-back para bottom decil.</a:t>
            </a:r>
          </a:p>
        </p:txBody>
      </p:sp>
      <p:sp>
        <p:nvSpPr>
          <p:cNvPr id="61" name="Google Shape;61;p14"/>
          <p:cNvSpPr/>
          <p:nvPr/>
        </p:nvSpPr>
        <p:spPr>
          <a:xfrm>
            <a:off x="387850" y="1152500"/>
            <a:ext cx="1835100" cy="9330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Objetivos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62" name="Google Shape;62;p14"/>
          <p:cNvSpPr/>
          <p:nvPr/>
        </p:nvSpPr>
        <p:spPr>
          <a:xfrm>
            <a:off x="387850" y="2221250"/>
            <a:ext cx="1835100" cy="23475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A</a:t>
            </a:r>
            <a:r>
              <a:rPr lang="en">
                <a:solidFill>
                  <a:schemeClr val="lt1"/>
                </a:solidFill>
              </a:rPr>
              <a:t>sunciones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63" name="Google Shape;63;p14"/>
          <p:cNvSpPr txBox="1"/>
          <p:nvPr>
            <p:ph idx="1" type="body"/>
          </p:nvPr>
        </p:nvSpPr>
        <p:spPr>
          <a:xfrm>
            <a:off x="2317350" y="2220225"/>
            <a:ext cx="6515100" cy="23475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sz="1200"/>
              <a:t>• Filas sin CustomerID descartadas (~23%) → no etiquetables.</a:t>
            </a:r>
            <a:endParaRPr sz="1200"/>
          </a:p>
          <a:p>
            <a:r>
              <a:rPr sz="1200"/>
              <a:t>• Cancelaciones (Invoice "C*") y devoluciones excluidas.</a:t>
            </a:r>
          </a:p>
          <a:p>
            <a:r>
              <a:rPr sz="1200"/>
              <a:t>• Códigos de servicio (POST, DOT, AMAZONFEE, …) excluidos.</a:t>
            </a:r>
          </a:p>
          <a:p>
            <a:r>
              <a:rPr sz="1200"/>
              <a:t>• Quantity ≤ 0 y Price ≤ 0 excluidos.</a:t>
            </a:r>
          </a:p>
          <a:p>
            <a:r>
              <a:rPr sz="1200"/>
              <a:t>• Top 0.5% revenue por línea capado para estabilidad.</a:t>
            </a:r>
          </a:p>
          <a:p>
            <a:r>
              <a:rPr sz="1200"/>
              <a:t>• Tasa de recompra observada: 51.6% (muestra balanceada).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>Descriptivo</a:t>
            </a:r>
            <a:endParaRPr/>
          </a:p>
        </p:txBody>
      </p:sp>
      <p:pic>
        <p:nvPicPr>
          <p:cNvPr id="69" name="Picture 68" descr="eda_monthly_reven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0"/>
            <a:ext cx="4297680" cy="1910080"/>
          </a:xfrm>
          <a:prstGeom prst="rect">
            <a:avLst/>
          </a:prstGeom>
        </p:spPr>
      </p:pic>
      <p:pic>
        <p:nvPicPr>
          <p:cNvPr id="70" name="Picture 69" descr="eda_top_countri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60" y="3108960"/>
            <a:ext cx="3931920" cy="1965960"/>
          </a:xfrm>
          <a:prstGeom prst="rect">
            <a:avLst/>
          </a:prstGeom>
        </p:spPr>
      </p:pic>
      <p:pic>
        <p:nvPicPr>
          <p:cNvPr id="71" name="Picture 70" descr="eda_target_balan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1097280"/>
            <a:ext cx="4343400" cy="347472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4663440" y="4617720"/>
            <a:ext cx="4343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/>
              <a:t>4,914 clientes etiquetados · tasa real 51.6%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>El modelo</a:t>
            </a:r>
            <a:endParaRPr/>
          </a:p>
        </p:txBody>
      </p:sp>
      <p:pic>
        <p:nvPicPr>
          <p:cNvPr id="74" name="Picture 73" descr="model_r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0"/>
            <a:ext cx="2793076" cy="2194560"/>
          </a:xfrm>
          <a:prstGeom prst="rect">
            <a:avLst/>
          </a:prstGeom>
        </p:spPr>
      </p:pic>
      <p:pic>
        <p:nvPicPr>
          <p:cNvPr id="75" name="Picture 74" descr="model_decil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60" y="3474720"/>
            <a:ext cx="2800350" cy="1600200"/>
          </a:xfrm>
          <a:prstGeom prst="rect">
            <a:avLst/>
          </a:prstGeom>
        </p:spPr>
      </p:pic>
      <p:pic>
        <p:nvPicPr>
          <p:cNvPr id="76" name="Picture 75" descr="model_importan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17520" y="1097280"/>
            <a:ext cx="2700997" cy="219456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3017520" y="3474720"/>
            <a:ext cx="598932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/>
              <a:t>Modelo final: Optuna_xgb_tuned</a:t>
            </a:r>
          </a:p>
          <a:p>
            <a:r>
              <a:rPr sz="1300"/>
              <a:t>Desempeño actual:  AUC = 0.8141   AP = 0.8427</a:t>
            </a:r>
          </a:p>
          <a:p>
            <a:r>
              <a:rPr sz="1300"/>
              <a:t>Modelo RF anterior:  AUC = 0.8030   AP = 0.8329</a:t>
            </a:r>
          </a:p>
          <a:p>
            <a:r>
              <a:rPr sz="1300"/>
              <a:t>Mejora de performance:  ++0.0111 AUC</a:t>
            </a:r>
          </a:p>
          <a:p>
            <a:r>
              <a:rPr sz="1300"/>
              <a:t>Top decil score → 97.6% recompran (vs 11.4% decil bajo)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>Conclusiones y próximos pasos</a:t>
            </a:r>
            <a:endParaRPr/>
          </a:p>
        </p:txBody>
      </p:sp>
      <p:sp>
        <p:nvSpPr>
          <p:cNvPr id="79" name="Google Shape;79;p17"/>
          <p:cNvSpPr txBox="1"/>
          <p:nvPr>
            <p:ph idx="1" type="body"/>
          </p:nvPr>
        </p:nvSpPr>
        <p:spPr>
          <a:xfrm>
            <a:off x="2317350" y="1152475"/>
            <a:ext cx="6515100" cy="9330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sz="1200"/>
              <a:t>• Modelo Optuna_xgb_tuned con AUC test ≈ 0.8141, AP ≈ 0.8427.</a:t>
            </a:r>
            <a:endParaRPr sz="1200"/>
          </a:p>
          <a:p>
            <a:r>
              <a:rPr sz="1200"/>
              <a:t>• Buena calibración → score utilizable como probabilidad real.</a:t>
            </a:r>
          </a:p>
          <a:p>
            <a:r>
              <a:rPr sz="1200"/>
              <a:t>• Lift fuerte: top 10% del score recompra 97.6% vs. 11.4% en el último decil.</a:t>
            </a:r>
          </a:p>
          <a:p>
            <a:r>
              <a:rPr sz="1200"/>
              <a:t>• Variables comportamentales e IPI superan a la línea base.</a:t>
            </a:r>
          </a:p>
          <a:p>
            <a:r>
              <a:rPr sz="1200"/>
              <a:t>• Recomendación: usar score por decil para diseñar campañas.</a:t>
            </a:r>
          </a:p>
        </p:txBody>
      </p:sp>
      <p:sp>
        <p:nvSpPr>
          <p:cNvPr id="80" name="Google Shape;80;p17"/>
          <p:cNvSpPr/>
          <p:nvPr/>
        </p:nvSpPr>
        <p:spPr>
          <a:xfrm>
            <a:off x="387850" y="1152500"/>
            <a:ext cx="1835100" cy="9330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Conclusiones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81" name="Google Shape;81;p17"/>
          <p:cNvSpPr/>
          <p:nvPr/>
        </p:nvSpPr>
        <p:spPr>
          <a:xfrm>
            <a:off x="387850" y="2221250"/>
            <a:ext cx="1835100" cy="23475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Próximos pasos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82" name="Google Shape;82;p17"/>
          <p:cNvSpPr txBox="1"/>
          <p:nvPr>
            <p:ph idx="1" type="body"/>
          </p:nvPr>
        </p:nvSpPr>
        <p:spPr>
          <a:xfrm>
            <a:off x="2317350" y="2220225"/>
            <a:ext cx="6515100" cy="23475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• Validar sobre cutoffs rolling para robustez temporal.</a:t>
            </a:r>
            <a:endParaRPr sz="1200"/>
          </a:p>
          <a:p>
            <a:r>
              <a:rPr sz="1200"/>
              <a:t>• Añadir features de categoría de producto y estacionalidad Q4.</a:t>
            </a:r>
          </a:p>
          <a:p>
            <a:r>
              <a:rPr sz="1200"/>
              <a:t>• Calibrar threshold con curva coste / beneficio (campaña vs CLV recuperado).</a:t>
            </a:r>
          </a:p>
          <a:p>
            <a:r>
              <a:rPr sz="1200"/>
              <a:t>• Probar Gradient Boosting con monotonic constraints en Recency/Frequency.</a:t>
            </a:r>
          </a:p>
          <a:p>
            <a:r>
              <a:rPr sz="1200"/>
              <a:t>• Calibrar el output (Platt / isotonic) si se usa segmentación binaria.</a:t>
            </a:r>
          </a:p>
          <a:p>
            <a:r>
              <a:rPr sz="1200"/>
              <a:t>• Re-entrenamiento trimestral + monitorización de drift de RFM.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(instrucciones)</a:t>
            </a:r>
            <a:endParaRPr/>
          </a:p>
        </p:txBody>
      </p:sp>
      <p:sp>
        <p:nvSpPr>
          <p:cNvPr id="88" name="Google Shape;88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Esto es un propuesta de plantilla para facilitar hacer un powerpoint a aquellos menos habituados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El utilizar esta plantilla es opcional, el que se sienta más cómo con otra la puede utilizar sin problema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En las gráficas podéis pegar directamente las que os salen de python,pero que quede bonito.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